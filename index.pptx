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www.joanlipuscek.com/child-therapy-news/new-research-in-the-old-spanking-debate" TargetMode="External" /><Relationship Id="rId3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esourcecentre.savethechildren.net/library/positive-discipline-everyday-parenting-pdep-fourth-edition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37/fam0000191" TargetMode="External" /><Relationship Id="rId3" Type="http://schemas.openxmlformats.org/officeDocument/2006/relationships/hyperlink" Target="https://doi.org/10.1016/j.chiabu.2018.11.003" TargetMode="External" /><Relationship Id="rId4" Type="http://schemas.openxmlformats.org/officeDocument/2006/relationships/hyperlink" Target="https://doi.org/10.1136/bmjopen-2021-058439" TargetMode="External" /><Relationship Id="rId5" Type="http://schemas.openxmlformats.org/officeDocument/2006/relationships/hyperlink" Target="https://doi.org/10.1016/j.chiabu.2022.105606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Toward Childhoods Free From Violence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50 Years of Research Tells Us to End Corporal Punishment</a:t>
            </a:r>
            <a:br/>
            <a:br/>
            <a:r>
              <a:rPr/>
              <a:t>Andy Grogan-Kaylor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Professor Julie Ma</a:t>
            </a:r>
          </a:p>
          <a:p>
            <a:pPr lvl="0"/>
            <a:r>
              <a:rPr/>
              <a:t>Professor Shawna Lee</a:t>
            </a:r>
          </a:p>
          <a:p>
            <a:pPr lvl="0"/>
            <a:r>
              <a:rPr/>
              <a:t>Professor Liz Gershoff</a:t>
            </a:r>
          </a:p>
          <a:p>
            <a:pPr lvl="0"/>
            <a:r>
              <a:rPr/>
              <a:t>Professor Emerita Joan Durant</a:t>
            </a:r>
          </a:p>
          <a:p>
            <a:pPr lvl="0"/>
            <a:r>
              <a:rPr/>
              <a:t>Nadine Block</a:t>
            </a:r>
          </a:p>
          <a:p>
            <a:pPr lvl="0"/>
            <a:r>
              <a:rPr/>
              <a:t>Professors Jorge Cuartas</a:t>
            </a:r>
          </a:p>
          <a:p>
            <a:pPr lvl="0"/>
            <a:r>
              <a:rPr/>
              <a:t>Professor Dana McCoy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talk is about.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“Physical Discipline”</a:t>
            </a:r>
          </a:p>
          <a:p>
            <a:pPr lvl="0"/>
            <a:r>
              <a:rPr/>
              <a:t>“Corporal Punishment”</a:t>
            </a:r>
          </a:p>
          <a:p>
            <a:pPr lvl="0"/>
            <a:r>
              <a:rPr/>
              <a:t>“Spanking”</a:t>
            </a:r>
          </a:p>
          <a:p>
            <a:pPr lvl="0" indent="0" marL="0">
              <a:buNone/>
            </a:pPr>
            <a:r>
              <a:rPr/>
              <a:t>All of these are roughly synonymous. They are widely used forms of discipline worldwide.</a:t>
            </a:r>
          </a:p>
          <a:p>
            <a:pPr lvl="0" indent="0" marL="0">
              <a:buNone/>
            </a:pPr>
            <a:r>
              <a:rPr/>
              <a:t>There is a lot of research evidence around the use of spanking or physical punishment, but family decisions about whether to use physical punishment are often considered to be a personal matter.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Trends in the research.</a:t>
            </a:r>
            <a:br/>
          </a:p>
          <a:p>
            <a:pPr lvl="0"/>
            <a:r>
              <a:rPr/>
              <a:t>All of this conversation is nested in a global conversation.</a:t>
            </a:r>
            <a:br/>
          </a:p>
          <a:p>
            <a:pPr lvl="0"/>
            <a:r>
              <a:rPr/>
              <a:t>I would like to end, where we should always end a discussion of these issues, with a discussion of positive parenting. What can parents do in these situations?</a:t>
            </a:r>
            <a:br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Spanking Feels to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Nadine Block, Center for Effective Discipline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Meta-Analysis of 50 Years of Research on Corporal Punishment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Gershoff &amp; Grogan-Kaylor (2016)</a:t>
            </a:r>
          </a:p>
          <a:p>
            <a:pPr lvl="0"/>
            <a:r>
              <a:rPr/>
              <a:t>Study of studies</a:t>
            </a:r>
          </a:p>
          <a:p>
            <a:pPr lvl="0"/>
            <a:r>
              <a:rPr/>
              <a:t>We screened 1,574 articles</a:t>
            </a:r>
          </a:p>
          <a:p>
            <a:pPr lvl="0"/>
            <a:r>
              <a:rPr/>
              <a:t>50 years of research</a:t>
            </a:r>
          </a:p>
          <a:p>
            <a:pPr lvl="0"/>
            <a:r>
              <a:rPr/>
              <a:t>111 unique “effect sizes” (study results)</a:t>
            </a:r>
          </a:p>
          <a:p>
            <a:pPr lvl="0"/>
            <a:r>
              <a:rPr/>
              <a:t>160,927 children</a:t>
            </a:r>
          </a:p>
          <a:p>
            <a:pPr lvl="0"/>
            <a:r>
              <a:rPr/>
              <a:t>Remarkably consistent results. “There is no debate.”</a:t>
            </a:r>
          </a:p>
          <a:p>
            <a:pPr lvl="0"/>
            <a:r>
              <a:rPr/>
              <a:t>13 of 17 outcomes displayed statistically significant negative (undesirable results).</a:t>
            </a:r>
          </a:p>
          <a:p>
            <a:pPr lvl="0"/>
            <a:r>
              <a:rPr/>
              <a:t>For no outcome was there a benefit of spanking.</a:t>
            </a:r>
          </a:p>
          <a:p>
            <a:pPr lvl="0"/>
            <a:r>
              <a:rPr/>
              <a:t>Only 1 study showed a statistically significant benefit of spanking.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Meta-Analytic Results</a:t>
            </a:r>
          </a:p>
        </p:txBody>
      </p:sp>
      <p:pic>
        <p:nvPicPr>
          <p:cNvPr descr="index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5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Thinking More Critically About the Size of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Joan Lipuscek has written a </a:t>
            </a:r>
            <a:r>
              <a:rPr>
                <a:hlinkClick r:id="rId2"/>
              </a:rPr>
              <a:t>really nice blog post thinking through some of the issues raised by our research</a:t>
            </a:r>
            <a:r>
              <a:rPr/>
              <a:t>. In particular, she thinks very critically about the sizes of effects.</a:t>
            </a:r>
          </a:p>
        </p:txBody>
      </p:sp>
      <p:pic>
        <p:nvPicPr>
          <p:cNvPr descr="Lipuscek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571500"/>
            <a:ext cx="51054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blog post from Joan Lipuscek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Response to Meta-Analysis</a:t>
            </a:r>
          </a:p>
        </p:txBody>
      </p:sp>
      <p:pic>
        <p:nvPicPr>
          <p:cNvPr descr="CPMeta-respon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0800" y="1193800"/>
            <a:ext cx="394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responses to meta-analysis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 100 mentions in English language news media.</a:t>
            </a:r>
          </a:p>
          <a:p>
            <a:pPr lvl="0"/>
            <a:r>
              <a:rPr/>
              <a:t>University of Michigan News indicates that the press release from UM News received “more than 100 hits in Spanish, 60 in Chinese, 43 in Portuguese and 23 in India.”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Policy Statement by </a:t>
            </a:r>
            <a:r>
              <a:rPr i="1"/>
              <a:t>American Academy of Pediatrics</a:t>
            </a:r>
          </a:p>
          <a:p>
            <a:pPr lvl="0"/>
            <a:r>
              <a:rPr/>
              <a:t>Policy Statement by </a:t>
            </a:r>
            <a:r>
              <a:rPr i="1"/>
              <a:t>American Psychological Association</a:t>
            </a:r>
          </a:p>
          <a:p>
            <a:pPr lvl="0"/>
            <a:r>
              <a:rPr/>
              <a:t>More recent work has resulted in oral testimony by colleague before </a:t>
            </a:r>
            <a:r>
              <a:rPr i="1"/>
              <a:t>First Commission of the Congress of Colombia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Global Research on Corporal Punishment</a:t>
            </a:r>
          </a:p>
        </p:txBody>
      </p:sp>
      <p:pic>
        <p:nvPicPr>
          <p:cNvPr descr="index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8229600" cy="224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Locations of Countries in UNICEF MICS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e.g. Pace et al. (2019), Ward et al. (2022), Ward et al. (2023)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Cascade of Bans on Corporal Punishment</a:t>
            </a:r>
          </a:p>
        </p:txBody>
      </p:sp>
      <p:pic>
        <p:nvPicPr>
          <p:cNvPr descr="index_files/figure-pptx/make_glob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Can Parents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Parenting is a “long game,” rather than a “short game”. Growing rigorous evidence that ongoing love and support are the strongest shapers of positive behavior.</a:t>
            </a:r>
          </a:p>
          <a:p>
            <a:pPr lvl="0"/>
            <a:r>
              <a:rPr/>
              <a:t>Well studied in the U.S.</a:t>
            </a:r>
          </a:p>
          <a:p>
            <a:pPr lvl="0"/>
            <a:r>
              <a:rPr/>
              <a:t>Growing attention in global research.</a:t>
            </a:r>
          </a:p>
          <a:p>
            <a:pPr lvl="0"/>
            <a:r>
              <a:rPr/>
              <a:t>“Catch children being good”. Praise.</a:t>
            </a:r>
          </a:p>
          <a:p>
            <a:pPr lvl="0"/>
            <a:r>
              <a:rPr/>
              <a:t>Age appropriate removal of privileges.</a:t>
            </a:r>
          </a:p>
          <a:p>
            <a:pPr lvl="0"/>
            <a:r>
              <a:rPr/>
              <a:t>Spend time with children.</a:t>
            </a:r>
          </a:p>
          <a:p>
            <a:pPr lvl="0"/>
            <a:r>
              <a:rPr/>
              <a:t>Let children know you love them.</a:t>
            </a:r>
          </a:p>
          <a:p>
            <a:pPr lvl="0"/>
            <a:r>
              <a:rPr/>
              <a:t>Listen to children. Think about where children are in terms of their developmental tasks.</a:t>
            </a:r>
          </a:p>
          <a:p>
            <a:pPr lvl="0"/>
            <a:r>
              <a:rPr>
                <a:hlinkClick r:id="rId2"/>
              </a:rPr>
              <a:t>https://resourcecentre.savethechildren.net/library/positive-discipline-everyday-parenting-pdep-fourth-edition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Gershoff, E. T., &amp; Grogan-Kaylor, A. (2016). Spanking and child outcomes: Old controversies and new meta-analyses. </a:t>
            </a:r>
            <a:r>
              <a:rPr i="1"/>
              <a:t>Journal of Family Psychology</a:t>
            </a:r>
            <a:r>
              <a:rPr/>
              <a:t>, </a:t>
            </a:r>
            <a:r>
              <a:rPr i="1"/>
              <a:t>30</a:t>
            </a:r>
            <a:r>
              <a:rPr/>
              <a:t>, 453–469. </a:t>
            </a:r>
            <a:r>
              <a:rPr>
                <a:hlinkClick r:id="rId2"/>
              </a:rPr>
              <a:t>https://doi.org/10.1037/fam0000191</a:t>
            </a:r>
          </a:p>
          <a:p>
            <a:pPr lvl="0" indent="0" marL="0">
              <a:buNone/>
            </a:pPr>
            <a:r>
              <a:rPr/>
              <a:t>Pace, G. T., Lee, S. J., &amp; Grogan-Kaylor, A. (2019). Spanking and young children’s socioemotional development in low- and middle-income countries. </a:t>
            </a:r>
            <a:r>
              <a:rPr i="1"/>
              <a:t>Child Abuse and Neglect</a:t>
            </a:r>
            <a:r>
              <a:rPr/>
              <a:t>, </a:t>
            </a:r>
            <a:r>
              <a:rPr i="1"/>
              <a:t>88</a:t>
            </a:r>
            <a:r>
              <a:rPr/>
              <a:t>, 84–95. </a:t>
            </a:r>
            <a:r>
              <a:rPr>
                <a:hlinkClick r:id="rId3"/>
              </a:rPr>
              <a:t>https://doi.org/10.1016/j.chiabu.2018.11.003</a:t>
            </a:r>
          </a:p>
          <a:p>
            <a:pPr lvl="0" indent="0" marL="0">
              <a:buNone/>
            </a:pPr>
            <a:r>
              <a:rPr/>
              <a:t>Ward, K. P., Grogan-Kaylor, A. C., Ma, J., Pace, G., &amp; Lee, S. J. (2023). Associations between 11 parental discipline behaviors and child outcomes across 60 countries. </a:t>
            </a:r>
            <a:r>
              <a:rPr i="1"/>
              <a:t>BMJ Open</a:t>
            </a:r>
            <a:r>
              <a:rPr/>
              <a:t>. </a:t>
            </a:r>
            <a:r>
              <a:rPr>
                <a:hlinkClick r:id="rId4"/>
              </a:rPr>
              <a:t>https://doi.org/10.1136/bmjopen-2021-058439</a:t>
            </a:r>
          </a:p>
          <a:p>
            <a:pPr lvl="0" indent="0" marL="0">
              <a:buNone/>
            </a:pPr>
            <a:r>
              <a:rPr/>
              <a:t>Ward, K. P., Lee, S. J., Grogan-Kaylor, A. C., Ma, J., &amp; Pace, G. T. (2022). Patterns of caregiver aggressive and nonaggressive discipline toward young children in low- and middle-income countries: A latent class approach. </a:t>
            </a:r>
            <a:r>
              <a:rPr i="1"/>
              <a:t>Child Abuse &amp; Neglect</a:t>
            </a:r>
            <a:r>
              <a:rPr/>
              <a:t>, </a:t>
            </a:r>
            <a:r>
              <a:rPr i="1"/>
              <a:t>128</a:t>
            </a:r>
            <a:r>
              <a:rPr/>
              <a:t>. https://doi.org/</a:t>
            </a:r>
            <a:r>
              <a:rPr>
                <a:hlinkClick r:id="rId5"/>
              </a:rPr>
              <a:t>https://doi.org/10.1016/j.chiabu.2022.105606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 Childhoods Free From Violence</dc:title>
  <dc:creator>Andy Grogan-Kaylor</dc:creator>
  <cp:keywords/>
  <dcterms:created xsi:type="dcterms:W3CDTF">2026-07-06T16:02:02Z</dcterms:created>
  <dcterms:modified xsi:type="dcterms:W3CDTF">2026-07-06T16:02:02Z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toward-childhoods-free-from-violence.bib</vt:lpwstr>
  </property>
  <property fmtid="{D5CDD505-2E9C-101B-9397-08002B2CF9AE}" pid="5" name="by-author">
    <vt:lpwstr/>
  </property>
  <property fmtid="{D5CDD505-2E9C-101B-9397-08002B2CF9AE}" pid="6" name="csl">
    <vt:lpwstr>apa.csl</vt:lpwstr>
  </property>
  <property fmtid="{D5CDD505-2E9C-101B-9397-08002B2CF9AE}" pid="7" name="date">
    <vt:lpwstr>2026-07-06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btitle">
    <vt:lpwstr>50 Years of Research Tells Us to End Corporal Punishment</vt:lpwstr>
  </property>
  <property fmtid="{D5CDD505-2E9C-101B-9397-08002B2CF9AE}" pid="13" name="toc-title">
    <vt:lpwstr>Table of contents</vt:lpwstr>
  </property>
</Properties>
</file>